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03 — Requisitos e histórias de usuário.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corte funcional/não-funcional é frouxo, e Glinz (2007) mostra por quê: o mesmo enunciado muda de lado conforme a redação. O que resolve é classificar por TRATAMENTO — função, qualidade, restrição. ISO/IEC 25010 dá o vocabulário das qualidades (desempenho, segurança, usabilidade, manutenibilidade, portabilidade...) e serve para o grupo não inventar nome. Para tornar qualidade verificável há três receitas equivalentes: CENÁRIO DE ATRIBUTO (Bass/Clements/Kazman: fonte, estímulo, artefato, ambiente, resposta, MEDIDA da resposta), FIT CRITERION (Volere, Robertson) e PLANGUAGE (Gilb: escala + medidor). Todas dizem a mesma coisa: sem medida, não é requisito, é desejo. O gancho da Aula 2: o não-funcional mais perigoso do caso — celular na rua, conexão instável — veio do quadrante alto interesse / baixa influência, o voluntário que não estava na reunião. E veja o efeito em cascata: a qualidade "tolerar rede ruim" PRODUZ função (gravar o horário do evento, não o da sincronização) — e essa função protege a medição do objetivo. Qualidade e restrição não são apêndice da análise: elas desenham a história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os três cartões da esquerda para a direita e parar na faixa de baixo: é ali que está o argumento da aula. A qualidade de tolerar rede ruim OBRIGA a função de gravar o horário do evento, e essa função é o que protege a mediana até a coleta — a medição que a Aula 2 mostrou não existir. Quem trata não-funcional como apêndice descobre na Unidade 3 que o desenho estava errado desde a história zero. Perguntar: qual dos três muda o desenho da história zero?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corte funcional/não-funcional é frouxo, e Glinz (2007) mostra por quê: o mesmo enunciado muda de lado conforme a redação. O que resolve é classificar por TRATAMENTO — função, qualidade, restrição. ISO/IEC 25010 dá o vocabulário das qualidades (desempenho, segurança, usabilidade, manutenibilidade, portabilidade...) e serve para o grupo não inventar nome. Para tornar qualidade verificável há três receitas equivalentes: CENÁRIO DE ATRIBUTO (Bass/Clements/Kazman: fonte, estímulo, artefato, ambiente, resposta, MEDIDA da resposta), FIT CRITERION (Volere, Robertson) e PLANGUAGE (Gilb: escala + medidor). Todas dizem a mesma coisa: sem medida, não é requisito, é desejo. O gancho da Aula 2: o não-funcional mais perigoso do caso — celular na rua, conexão instável — veio do quadrante alto interesse / baixa influência, o voluntário que não estava na reunião. E veja o efeito em cascata: a qualidade "tolerar rede ruim" PRODUZ função (gravar o horário do evento, não o da sincronização) — e essa função protege a medição do objetivo. Qualidade e restrição não são apêndice da análise: elas desenham a história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função · 2 restrição (plataforma) · 3 restrição (de projeto, não do produto) · 4 função (é a regra do caso) · 5 RESTRIÇÃO IMPOSTA que se materializa em FUNÇÃO (campos obrigatórios) · 6 restrição de escopo · 7 FUNÇÃO derivada de uma QUALIDADE (tolerar rede ruim) · 8 qualidade (usabilidade) — e note que já vem com número, o que a torna verificável. O ponto da atividade são os itens 5 e 7: o corte NÃO é limpo, e insistir em rotular certo é perder tempo. O que importa é o tratamento — função se testa, qualidade se mede, restrição se cumpre. E a lição de fundo: qualidade e restrição PRODUZEM função. Quem trata não-funcional como "a gente vê depois" descobre na Unidade 3 que o desenho estava errado desde a história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Origem: as histórias vêm do XP (Beck, 1999) e a formulação que pegou é a dos TRÊS Cs de Ron Jeffries (2001) — Card, Conversation, Confirmation. O cartão é deliberadamente insuficiente: ele não especifica, ele marca o lugar de uma conversa que ainda vai acontecer. Consequência prática que vale dizer em voz alta: quem escreve história como se fosse contrato reinventou o documento de requisitos com outra sintaxe, e paga o mesmo preço (envelhece e ninguém lê). O TEMPLATE "Como/quero/para" é atribuído à Connextra (Rachel Davies, ~2001) e virou padrão com Cohn (User Stories Applied, 2004) — que é bibliografia oficial da disciplina. Mas o formato é ANDAIME, não conteúdo: Patton alerta que ele degenera em cerimônia. Alternativas legítimas: JOB STORY (Klement) — "Quando &lt;situação&gt;, quero &lt;motivação&gt;, para &lt;resultado&gt;" — troca a persona pelo gatilho, e é melhor quando o contexto importa mais que o papel; FEATURE INJECTION (Chris Matts) — escrever o "para" PRIMEIRO, caçando o valor antes da solução. Dica de sala que funciona: mandar preencher a coluna "para" antes das outras duas. O que não é negociável, em qualquer formato: papel real, comportamento observável, valor verificável. E o ponto que amarra a unidade: a história é DESCARTÁVEL; o que persiste é a confirmação — critério de aceite na Aula 4, it.todo virando it na Aula 12, validacao.md na Aula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as três linhas do cartão e as três etiquetas — cada etiqueta é uma exigência que a correção cobra. Depois os três C: o cartão LEMBRA, a conversa ESCLARECE, a confirmação VERIFICA. E a frase que fecha: das três, só a confirmação sobra, e é ela que vira critério de aceite na Aula 4, teste na Aula 12 e validação na Aula 14. A caixa vermelha é o teste do para: se ele repete o quero, talvez seja tarefa. A job story está no quadro para mostrar que o formato é andaime, não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Origem: as histórias vêm do XP (Beck, 1999) e a formulação que pegou é a dos TRÊS Cs de Ron Jeffries (2001) — Card, Conversation, Confirmation. O cartão é deliberadamente insuficiente: ele não especifica, ele marca o lugar de uma conversa que ainda vai acontecer. Consequência prática que vale dizer em voz alta: quem escreve história como se fosse contrato reinventou o documento de requisitos com outra sintaxe, e paga o mesmo preço (envelhece e ninguém lê). O TEMPLATE "Como/quero/para" é atribuído à Connextra (Rachel Davies, ~2001) e virou padrão com Cohn (User Stories Applied, 2004) — que é bibliografia oficial da disciplina. Mas o formato é ANDAIME, não conteúdo: Patton alerta que ele degenera em cerimônia. Alternativas legítimas: JOB STORY (Klement) — "Quando &lt;situação&gt;, quero &lt;motivação&gt;, para &lt;resultado&gt;" — troca a persona pelo gatilho, e é melhor quando o contexto importa mais que o papel; FEATURE INJECTION (Chris Matts) — escrever o "para" PRIMEIRO, caçando o valor antes da solução. Dica de sala que funciona: mandar preencher a coluna "para" antes das outras duas. O que não é negociável, em qualquer formato: papel real, comportamento observável, valor verificável. E o ponto que amarra a unidade: a história é DESCARTÁVEL; o que persiste é a confirmação — critério de aceite na Aula 4, it.todo virando it na Aula 12, validacao.md na Aula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boa é a 5: o "para" traz um risco real e mensurável (abandono), e não repete o "quero". As outras: 1 tautologia pura · 2 tautologia com sinônimo · 3 valor do SISTEMA, não de uma pessoa · 4 "ter os dados" não é resultado — para quê os dados? Reescritas possíveis: 1 → "para que a comida saia da cozinha antes de estragar, sem eu precisar abrir o WhatsApp" · 3 → "para que a Marta saiba quanto tempo a coleta realmente leva" (liga na linha de base que falta) · 4 → "para eu mostrar a um patrocinador quantas refeições saíram do descarte". A regra prática: escreva a coluna "para" ANTES das outras duas. Se não sair sem repetir o "quero", a história ainda não tem valor identificado — e provavelmente é tarefa.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Wake propôs INVEST para histórias e SMART para tarefas — não confundir os dois níveis. As três nuances honestas, que valem mais que a sigla: (1) INDEPENDENTE é o critério mais supervalorizado — dependência é normal num produto real; o problema é a dependência CIRCULAR e a ordem forçada sem motivo. (2) VALIOSA esconde a pergunta "valor para quem?" — e é aqui que a história zero entra: o valor dela é para o TIME (retirar risco de integração e produzir a medição que falta), não para o usuário final. Ela falha em Independente e passa em Valiosa só na segunda leitura, e ainda assim é a história certa. Dizer isso explicitamente evita que a turma se sabote tentando fazer a primeira fatia parecer valiosa para o doador. (3) ESTIMÁVEL pressupõe estimativa, o que a discussão do #NoEstimates contesta — e não importa: o valor prático é o gatilho de spike. Fechamento: INVEST DIAGNOSTICA. Um checklist que só produz carimbo não mudou decisão nenhuma, e decisão vale mais que volume (premissa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ler as seis definições — ler os SINTOMAS e as AÇÕES. A linha que importa é a de baixo: é a ação que vai para docs/analise.md, e é ela que a correção procura. Fechar na faixa verde: a história zero falha em Independente e é a certa, porque o valor dela é para o time — retirar risco e produzir medição. Dizer isso evita que o grupo passe a aula tentando inventar uma primeira fatia independente.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Wake propôs INVEST para histórias e SMART para tarefas — não confundir os dois níveis. As três nuances honestas, que valem mais que a sigla: (1) INDEPENDENTE é o critério mais supervalorizado — dependência é normal num produto real; o problema é a dependência CIRCULAR e a ordem forçada sem motivo. (2) VALIOSA esconde a pergunta "valor para quem?" — e é aqui que a história zero entra: o valor dela é para o TIME (retirar risco de integração e produzir a medição que falta), não para o usuário final. Ela falha em Independente e passa em Valiosa só na segunda leitura, e ainda assim é a história certa. Dizer isso explicitamente evita que a turma se sabote tentando fazer a primeira fatia parecer valiosa para o doador. (3) ESTIMÁVEL pressupõe estimativa, o que a discussão do #NoEstimates contesta — e não importa: o valor prático é o gatilho de spike. Fechamento: INVEST DIAGNOSTICA. Um checklist que só produz carimbo não mudou decisão nenhuma, e decisão vale mais que volume (premissa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falha em PEQUENA e em TESTÁVEL ("completo" não tem fim verificável) → ação: tratar como tema e fatiar por passo do fluxo. 2 falha em NEGOCIÁVEL (traz a solução pronta e fecha a conversa) → ação: a história é "publicar em menos de 30 s"; o datepicker e a cor do botão viram critério de aceite ou protótipo. 3 falha em VALIOSA e nem é história — é TAREFA ("como time" é o sintoma) → ação: virar tarefa dentro da história zero. 4 falha em ESTIMÁVEL (de onde vem a geolocalização? há endereço estruturado?) → ação: SPIKE de 2 h; e cuidado, ela também esconde uma regra AUSENTE — proximidade dá prioridade? Isso é decisão, não fato (Aula 2). 5 é a que se MANTÉM: falha em INDEPENDENTE (tudo depende dela) e o "V" só se sustenta como valor para o time. É a história zero. INVEST diagnostica, não reprova.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FATIAMENTO — os padrões que funcionam: SPIDR (Cohn) = Spike, Path (um caminho do fluxo), Interface (uma forma de entrada), Data (um subconjunto de dados), Rules (uma variação de regra). Lawrence &amp; Green acrescentam: passos do fluxo, variação de regra, simples/complexo, forma de entrada, ADIAR desempenho, operações CRUD separadas, spike. E o MÉTODO HAMBÚRGUER (Adzic) é o mais fácil de usar em sala: listar as camadas da tarefa e, para cada uma, três níveis (mínimo aceitável / bom / luxo); a fatia 1 é a LINHA DOS MÍNIMOS. O que sobra não é lixo: é o backlog da iteração 2, já fatiado. Cockburn &amp; Kniberg (Elephant Carpaccio) resumem a lição: quase sempre dá para fatiar mais do que o grupo acredita. A IA — SETE CHEIROS previsíveis, porque ela devolve a média do corpus: (1) fatia horizontal/CRUD — "criar, listar, editar, excluir"; (2) "para" tautológico; (3) persona genérica ("como usuário"); (4) INVENTA regra de negócio e apresenta com a mesma confiança das que existem — e não marca; (5) apaga as restrições específicas do caso (celular, conexão instável, um bairro, orçamento zero) porque elas não estão na média; (6) história grande com aparência de pequena; (7) critério de aceite que só repete a história. PROTOCOLO DE VERIFICAÇÃO, três passos, e é isso que a defesa vai cobrar: confrontar com o CASO (a regra citada existe? se não, marcar como inventada e dar dono — a Marta), confrontar com o MAPA da Aula 2 (o papel é stakeholder de verdade?), confrontar com INVEST e registrar a AÇÃO. Dica que muda o resultado: a IA é muito melhor como ADVERSÁRIA do que como autora — pedir para ela atacar a história do grupo rende mais que pedir para ela escrever.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metade vermelha é diagnóstico, a verde é tratamento — dizer isso ao projetar. Os sintomas são o que a turma precisa levar para a consulta: são reconhecíveis em cinco segundos, e é assim que a prova cobra. No SPIDR, insistir que o corte é por fluxo, por dado ou por regra — NUNCA por camada. A faixa final é a ponte para a atividade da IA: os quatro erros não são falha de quem escreve, são o padrão estatístico do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FATIAMENTO — os padrões que funcionam: SPIDR (Cohn) = Spike, Path (um caminho do fluxo), Interface (uma forma de entrada), Data (um subconjunto de dados), Rules (uma variação de regra). Lawrence &amp; Green acrescentam: passos do fluxo, variação de regra, simples/complexo, forma de entrada, ADIAR desempenho, operações CRUD separadas, spike. E o MÉTODO HAMBÚRGUER (Adzic) é o mais fácil de usar em sala: listar as camadas da tarefa e, para cada uma, três níveis (mínimo aceitável / bom / luxo); a fatia 1 é a LINHA DOS MÍNIMOS. O que sobra não é lixo: é o backlog da iteração 2, já fatiado. Cockburn &amp; Kniberg (Elephant Carpaccio) resumem a lição: quase sempre dá para fatiar mais do que o grupo acredita. A IA — SETE CHEIROS previsíveis, porque ela devolve a média do corpus: (1) fatia horizontal/CRUD — "criar, listar, editar, excluir"; (2) "para" tautológico; (3) persona genérica ("como usuário"); (4) INVENTA regra de negócio e apresenta com a mesma confiança das que existem — e não marca; (5) apaga as restrições específicas do caso (celular, conexão instável, um bairro, orçamento zero) porque elas não estão na média; (6) história grande com aparência de pequena; (7) critério de aceite que só repete a história. PROTOCOLO DE VERIFICAÇÃO, três passos, e é isso que a defesa vai cobrar: confrontar com o CASO (a regra citada existe? se não, marcar como inventada e dar dono — a Marta), confrontar com o MAPA da Aula 2 (o papel é stakeholder de verdade?), confrontar com INVEST e registrar a AÇÃO. Dica que muda o resultado: a IA é muito melhor como ADVERSÁRIA do que como autora — pedir para ela atacar a história do grupo rende mais que pedir para ela escrever.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Tarefas: 1, 4, 7 (e 4 já vem pronta no template). Histórias: 2, 5, 8 — e a 8 é pequena e produz MEDIÇÃO, o que a torna candidata forte para a iteração 1. Épico: 3 (nome de módulo, não história). O item 6 é a pegadinha: "usar sem conexão" é QUALIDADE escrita como história — não tem fim verificável e não cabe em iteração. O lugar dela é como restrição/critério dentro de várias histórias, não como item de backlog. O teste que resolve os oito: alguém FORA do time percebe a diferença quando isso termina? Se não, é tarefa — e tarefa é decomposição legítima, só não é história.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fatia 1 é a coluna do meio lida inteira: lista simples, três campos em texto, um botão, grava o horário. Duas lições. (1) Nenhuma célula da coluna direita foi descartada — ela É o backlog da iteração 2, já fatiado e priorizado, de graça. (2) A grade impede o fatiamento horizontal: não existe linha "banco" nem linha "tela", porque as camadas aqui são passos do FLUXO, não camadas técnicas. Se um grupo escrever "back-end" como camada, mostrar que a grade dele produz três fatias em que nada executa. Variação para grupo rápido: peça a fatia ZERO — mais fina que o mínimo. Quase sempre existe, e é o ponto do Elephant Carpaccio.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persona genérica + "para" tautológico (cadastrar → registrar) + é CRUD, não fatia. 2 REGRA INVENTADA: aprovação de doação NÃO existe no caso — e "administrador" é papel de tela (Aula 2). Se o grupo quiser aprovação, é legítimo: marca como inventada, dá dono (a Marta) e assume que ela agrava o conflito doador × vigilância, porque acrescenta fricção. 3 esconde dois não-funcionais ("tempo real" contradiz a restrição de conexão instável) e transforma o FATO do caso (proximidade reduz o tempo) em REGRA de prioridade — exatamente o escorregão da Aula 2. 4 valor plausível, mas serve à Marta (mostrar impacto), não ao doador; e depende de dados que ainda não existem. 5 gigante e horizontal ao mesmo tempo: três módulos num só "quero", e o "e" é o sintoma. A PERGUNTA QUE FECHA: quantas das cinco mencionam celular, conexão instável, um bairro ou orçamento zero? Nenhuma. A IA normalizou para o app genérico de doação e as restrições do caso desapareceram — e são elas que decidem o desenho. Registrar isso em ## Uso de IA é a entrega; "a IA escreveu" não é justificativa aceita na defesa de 03/09.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WALKING SKELETON (Cockburn): implementação minúscula que executa uma função ponta a ponta e liga os componentes principais — não precisa ser a arquitetura final. Freeman &amp; Pryce (GOOS) acrescentam o que mais importa aqui: o esqueleto existe para construir o CAMINHO DE ENTREGA primeiro (build, teste, CI), e é por isso que o template já vem com CI verde. TRACER BULLET (Hunt &amp; Thomas): código fino ponta a ponta para conferir a mira — e a diferença que vale nomear é que o tracer bullet FICA, o protótipo se joga fora. Quadro de distinções: fatia vertical = qualquer história que atravessa; walking skeleton = a PRIMEIRA, que também monta o caminho de entrega; spike = investigação com prazo, resposta é conhecimento; protótipo = descartável, responde "assim serve?"; MVP = a menor coisa que ensina algo sobre o mercado. Story mapping (Patton) é a técnica que organiza tudo isso em fluxo e ajuda a ver a fatia. O TERCEIRO CRITÉRIO é o mais importante e o menos óbvio: a história zero grava o instante da publicação e o do aceite. A Marta ACHA que o gargalo é a coleta e não há medição (Aula 2) — a fatia que escolhemos é a que produz a linha de base. Atenção: os cinco it.todo do template NÃO incluem os horários; registrar os dois instantes é o único acréscimo que vale fazer à fatia, e o motivo é a Aula 2. Fechar assim: a história zero está praticamente dada — está no caso e nos it.todo. O trabalho do grupo hoje não é inventá-la, é DECIDIR A FRONTEIRA: o que fica dentro, o que fica fora, e por quê. A fronteira é a decisão; a lista é só a consequência.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diagramas respondem à pergunta que todo grupo faz: por que não começar pelo banco? À direita, os três critérios — e o terceiro é o que ninguém adivinha sozinho: a fatia escolhida é a que PRODUZ A MEDIÇÃO que faltava na Aula 2. Fechar na faixa: a primeira fatia se escolhe por risco, e o que o grupo decide hoje é a fronteira, não a história.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WALKING SKELETON (Cockburn): implementação minúscula que executa uma função ponta a ponta e liga os componentes principais — não precisa ser a arquitetura final. Freeman &amp; Pryce (GOOS) acrescentam o que mais importa aqui: o esqueleto existe para construir o CAMINHO DE ENTREGA primeiro (build, teste, CI), e é por isso que o template já vem com CI verde. TRACER BULLET (Hunt &amp; Thomas): código fino ponta a ponta para conferir a mira — e a diferença que vale nomear é que o tracer bullet FICA, o protótipo se joga fora. Quadro de distinções: fatia vertical = qualquer história que atravessa; walking skeleton = a PRIMEIRA, que também monta o caminho de entrega; spike = investigação com prazo, resposta é conhecimento; protótipo = descartável, responde "assim serve?"; MVP = a menor coisa que ensina algo sobre o mercado. Story mapping (Patton) é a técnica que organiza tudo isso em fluxo e ajuda a ver a fatia. O TERCEIRO CRITÉRIO é o mais importante e o menos óbvio: a história zero grava o instante da publicação e o do aceite. A Marta ACHA que o gargalo é a coleta e não há medição (Aula 2) — a fatia que escolhemos é a que produz a linha de base. Atenção: os cinco it.todo do template NÃO incluem os horários; registrar os dois instantes é o único acréscimo que vale fazer à fatia, e o motivo é a Aula 2. Fechar assim: a história zero está praticamente dada — está no caso e nos it.todo. O trabalho do grupo hoje não é inventá-la, é DECIDIR A FRONTEIRA: o que fica dentro, o que fica fora, e por quê. A fronteira é a decisão; a lista é só a consequência.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DENTRO: 1, 2, 4, 5, 6 — são exatamente os cinco it.todo de tests/doacoes.test.js — mais o 7. FORA: 3 e 8. Duas perguntas valem a nota. Por que o 6 ("recusar aceite duplicado") está dentro, se parece caso de borda? Porque É a regra central do caso; sem ela o esqueleto não tem coluna e o produto não decide nada. Por que o 7 está dentro, se não aparece em tela nenhuma? Porque a linha de base do objetivo da Aula 2 nasce ali — o produto vivo produz a medição que a análise não tinha. E os FORA: a expiração automática é a regra AUSENTE que vocês registraram na Aula 2 e que a Marta ainda precisa ratificar — não se implementa regra sem dono; o filtro por proximidade transformaria um FATO do caso em regra de prioridade; a notificação depende de canal e custo, e o orçamento é zero. NÃO ACEITAR: "deixamos autenticação para depois porque é difícil". O motivo correto é que ela não exercita a regra central nem produz medição.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atividades são complementares: a 1 produz, a 2 transforma, a 3 usa e critica IA. Correção binária: entregou as três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e histórias de usuário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— Análise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como colaboradora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Descobrimos de QUEM vem cada requisito: mapa, objetivos, regras, conflito.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que objetivo se mede sem abrir o sistema — e que falta linha de base.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escrevemos o requisito. E escolhemos qual fatia executa primeiro.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EAF2E6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docs/analise.md tem quatro seções preenchidas: stakeholders, objetivos, regras, conflito.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sobe e o CI está verde — mas as regras de negócio são stubs que lançam erro.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tests/doacoes.test.js tem cinco it.todo esperando: são os critérios da história zero.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necessidade em história que cabe numa iteração — e escolher a fatia fina que atravessa o sistema inteiro.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histórias avaliadas por INVEST (com a ação corretiva) + 1 gigante quebrada em 3 + a história zero com a fronteira justificada.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Função, qualidade e restrição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"Funcional × não-funcional" é heurística, não taxonomia. São três coisas com tratamentos diferentes: função se implementa e testa, qualidade se mede, restrição se cumpre.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reconhece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se faz com 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sistema faz algo observável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 e testa (Aula 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 o quão bem, em que ambiente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 — precisa de número (Aula 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se negocia: prazo, plataforma, lei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cumpre, ou registra um ADR (Unidade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exigências, três tratamentos</a:t>
            </a:r>
            <a:endParaRPr lang="en-US" sz="3000" dirty="0"/>
          </a:p>
        </p:txBody>
      </p:sp>
      <p:pic>
        <p:nvPicPr>
          <p:cNvPr id="3" name="Image 0" descr="Infográfico: função, qualidade e restrição em três cartões, cada um com o que é, exemplo no caso, erro comum e o tratamento; abaixo, a cascata em que a qualidade produz função e a função protege a medição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863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verificável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estímulo, ambiente, resposta e medida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3G a 400 kbps, o voluntário confirma a coleta e a tela responde em até 2 s"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confirmação grava o horário do evento, não o da sincronização"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num teste ou numa medição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como adjetivo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 rápido", "ser seguro", "ser fácil de usar"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dizer se foi cumprida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restrição como requisito: "vamos priorizar o orçamento zero"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Orçamento, um bairro, sem integração: isso não se prioriza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Função, qualidade ou restrição?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347472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classificação rápida, mão levantada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cada item do caso. Dois deles não se encaixam limpo em uma só categoria — encontre quais.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2093976"/>
          </a:xfrm>
          <a:prstGeom prst="roundRect">
            <a:avLst>
              <a:gd name="adj" fmla="val 6114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21408"/>
            <a:ext cx="370332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doador publica uma doação com tipo, quantidade e validade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funcionar no navegador do celular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próximo de zero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disponíveis não mostra doação já aceita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121408"/>
            <a:ext cx="370332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mínima exigida pela vigilância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piloto atende um bairro só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confirmação grava o horário do evento, não o da sincronização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voluntário confirma a coleta em até 3 toques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discussão · sem entrega e sem nota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Cartão, conversa, confirmação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não é um requisito curto: é a promessa de uma conversa. O cartão lembra, a conversa esclarece, a confirmação verifica. Só a confirmação sobra depois.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  a ONG receptora                       &lt;- papel do MAPA da Aula 2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quero  aceitar uma doação disponível          &lt;- comportamento observável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  não mandar um voluntário buscar        &lt;- perda evitada, no mundo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um pão que outra ONG já levou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história em um quadro</a:t>
            </a:r>
            <a:endParaRPr lang="en-US" sz="3000" dirty="0"/>
          </a:p>
        </p:txBody>
      </p:sp>
      <p:pic>
        <p:nvPicPr>
          <p:cNvPr id="3" name="Image 0" descr="Infográfico: as três partes da história — Como, quero, para — anotadas com papel do mapa, comportamento observável e perda evitada; ao lado, os três C de Jeffries e a cadeia critério de aceite, teste e validação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863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"para" que segura a história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num objetivo de impacto da Aula 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numa perda concreta que se evita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é um stakeholder do mapa, com nome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fora do time percebe quando fica pronta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"para" tautológico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"...quero cadastrar uma doação, para que a doação fique cadastrada"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"...para que o sistema registre" — valor do sistema, não de alguém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usuário" — qual dos cinco?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"para" repete o "quero", talvez seja tarefa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Ache o "para"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347472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coletivo, reescrita no quadro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destas cinco têm o "para" tautológico ou vazio. Encontre a que está boa e reescreva as outras usando um objetivo da Aula 2.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2514600"/>
          </a:xfrm>
          <a:prstGeom prst="roundRect">
            <a:avLst>
              <a:gd name="adj" fmla="val 5091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21408"/>
            <a:ext cx="7589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doador, quero cadastrar uma doação, para que a doação fique cadastrada.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ONG, quero ver a lista, para que eu possa ver as doações disponíveis.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voluntário, quero confirmar a coleta, para que o sistema registre a coleta.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Marta, quero um relatório mensal, para que eu tenha os dados.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doador, quero publicar em menos de 30 s, para não desistir no meio do cadastro.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discussão · sem entrega e sem nota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INVEST: diagnóstico, não selo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(Bill Wake, 2003) não aprova nem reprova história. Cada letra que falha aponta uma AÇÃO diferente — e é a ação que vale a nota, não a letra.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Sintoma quando falha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corretiva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funciona depois de outra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reordenar, fundir ou fatiar por dado/regra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traz tela, campo e botão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 o detalhe para o critério de aceite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Valiosa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"para" é do time, não de alguém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achar quem sente falta — ou virar tarefa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ninguém sabe dizer o tamanho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spike: falta conhecimento, não coragem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cabe na iteração; tem "e"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fatiar (SPIDR / hambúrguer)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dá Dado / Quando / Então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achar a condição observável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INVEST: sintoma → ação</a:t>
            </a:r>
            <a:endParaRPr lang="en-US" sz="3000" dirty="0"/>
          </a:p>
        </p:txBody>
      </p:sp>
      <p:pic>
        <p:nvPicPr>
          <p:cNvPr id="3" name="Image 0" descr="Infográfico: as seis letras do INVEST em cartões, cada um com o sintoma quando a letra falha e a ação corretiva correspondente; faixa final lembrando que INVEST diagnostica e não reprova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8633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como diagnóstico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história falha em algo — normal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é: letra + ação tomada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"Falha em Estimável → spike de 2 h para achar a fonte do dado"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como selo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"Passou nos 6" e ninguém mudou nada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a letra e seguir a vida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Reprovar a história zero porque ela falha em Independente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com ação corretiva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347472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em grupo — a letra é o começo, não a resposta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história: qual letra falha e, principalmente, o que vocês FAZEM com ela. Uma delas falha e deve ser mantida assim.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2514600"/>
          </a:xfrm>
          <a:prstGeom prst="roundRect">
            <a:avLst>
              <a:gd name="adj" fmla="val 5091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21408"/>
            <a:ext cx="7589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ONG, quero um sistema completo de gestão de doações, para organizar meu trabalho.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doador, quero um form com tipo (lista), quantidade (número), validade (datepicker) e botão azul, para publicar rápido.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time, quero criar a tabela de doações no banco, para armazenar os dados.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ONG, quero as doações ordenadas por proximidade, para reduzir o tempo de coleta.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ONG, quero aceitar uma doação e ela sair da lista, para outra ONG não buscar a mesma coisa.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discussão · sem entrega e sem nota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erros — e a IA que os produz em série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toda história ruim é um destes quatro. Cada um tem um sintoma que se reconhece em cinco segundos — e a IA generativa produz os quatro por padrão.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TAREFA      "criar a tabela"      ninguém fora do time percebe quando acaba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GIGANTE     "gestão de doações"   o "quero" tem "e", ou é nome de módulo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VALOR   "para que fique..."    o "para" repete o "quero"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HORIZONTAL  "primeiro o banco"    atravessa UMA camada; nada executa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erros e os cinco cortes</a:t>
            </a:r>
            <a:endParaRPr lang="en-US" sz="3000" dirty="0"/>
          </a:p>
        </p:txBody>
      </p:sp>
      <p:pic>
        <p:nvPicPr>
          <p:cNvPr id="3" name="Image 0" descr="Infográfico: os quatro erros de história — tarefa, gigante, sem valor e horizontal — com exemplo e sintoma de cada; ao lado, os cinco cortes do SPIDR e o método hambúrguer; faixa final sobre a IA produzir os quatro erros por padrão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8633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fatiar de verdade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SPIDR: Spike · Path (caminho) · Interface · Data · Rules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boa é demonstrável sozinha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pode ser descartada sem quebrar as outras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"parte 1 de 3"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fatiamentos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camada: banco / API / tela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sprint: "parte 1", "parte 2"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tarefa técnica: "refatorar o repositório"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Dão ilusão de progresso e não entregam nada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Tarefa, história ou épico?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347472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classificação rápida · o teste: alguém fora do time percebe?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cada item. Um deles não é nenhum dos três — é qualidade disfarçada de história.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2093976"/>
          </a:xfrm>
          <a:prstGeom prst="roundRect">
            <a:avLst>
              <a:gd name="adj" fmla="val 6114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21408"/>
            <a:ext cx="370332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migração da tabela doacoes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doador, publicar uma doação e vê-la na lista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doações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o GitHub 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121408"/>
            <a:ext cx="370332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ONG, aceitar e a doação sair da lista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voluntário, usar o app sem conexão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os testes dos critérios de aceite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Marta, saber quantas doações expiraram sem aceite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discussão · sem entrega e sem nota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Quebre a gigante — método hambúrguer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347472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em grupo, no quadro · aquecimento do trabalho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gigante: "Como ONG, quero encontrar e aceitar a doação certa para mim." Complete a grade e leia em voz alta a LINHA DOS MÍNIMOS: essa é a fatia 1.</a:t>
            </a:r>
            <a:endParaRPr lang="en-US" sz="16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38528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aceitável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/ luxo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completa, ordem de publicação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por tipo · proximidade · aviso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tipo, quantidade e validade em 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· histórico do doador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botão, sem confirmação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confirmação com resumo · reserva com 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grava o aceite com o horário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aceitou, de onde · trilha completa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discussão · sem entrega e sem nota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IA inventou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347472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coletivo · cinco histórias geradas por IA para este caso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parecem boas. Encontre em cada uma: persona genérica, "para" tautológico, fatia horizontal, história gigante — e a regra de negócio que não existe no caso.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2514600"/>
          </a:xfrm>
          <a:prstGeom prst="roundRect">
            <a:avLst>
              <a:gd name="adj" fmla="val 5091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21408"/>
            <a:ext cx="7589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usuário, quero cadastrar uma doação, para registrar os alimentos disponíveis.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administrador, quero aprovar as doações cadastradas, para garantir a qualidade.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ONG, quero notificações em tempo real de doações próximas, para agir rápido.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doador, quero um dashboard com o histórico e o impacto das minhas doações.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gestor, quero gerenciar usuários, doações e relatórios, para manter tudo organizado.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discussão · sem entrega e sem nota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Fatia vertical: a história zero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fatia não se escolhe por valor — se escolhe por RISCO e informação. É o único momento do projeto em que isso é verdade.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65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26289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89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82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699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23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23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da lista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Vertical, horizontal e os três critérios</a:t>
            </a:r>
            <a:endParaRPr lang="en-US" sz="3000" dirty="0"/>
          </a:p>
        </p:txBody>
      </p:sp>
      <p:pic>
        <p:nvPicPr>
          <p:cNvPr id="3" name="Image 0" descr="Infográfico: dois diagramas de camadas comparando a fatia vertical, que atravessa interface, regra e dados, com a fatia horizontal, que ocupa só uma camada; ao lado, os três critérios da história zero e a distinção entre walking skeleton, spike e protótipo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8633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critérios da história zero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Atravessa interface → regra → dados, e executa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Exercita a regra central: aceita → sai da lista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 a medição que falta: grava publicação e aceite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nos cinco it.todo do template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armadilhas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MAGRA demais: só publicar, sem consumo — atravessa e não exercita regra nenhuma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GORDA: com login, filtro, notificação e foto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horizontal: "primeiro o banco" — nada executa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pelo que é fácil, não pelo que retira risco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fronteira da história zero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52360" y="347472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· em grupo · abre a produção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ou fora da história zero? Para cada FORA, o motivo tem de ser risco ou medição — não "é difícil".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2093976"/>
          </a:xfrm>
          <a:prstGeom prst="roundRect">
            <a:avLst>
              <a:gd name="adj" fmla="val 6114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21408"/>
            <a:ext cx="370332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com tipo, quantidade e validade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publicação sem os campos obrigatórios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de doador e de ONG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as disponíveis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121408"/>
            <a:ext cx="370332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aceitar, e a doação sair da lista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aceite de doação já aceita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gravar o horário da publicação e do aceite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proximidade · notificação · foto · expiração automática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discussão · sem entrega e sem nota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histórias na tabela ## Histórias de usuário, com a letra do INVEST e a ação corretiva.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fatias da história gigante entram como linhas da mesma tabela.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zero marcada com ★ e, abaixo da tabela: por que ela e o que ficou FORA.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Uso de IA preenchido: pelo menos 3 histórias identificadas por número (#), com o que a IA gerou, o que mudou e por quê — incluindo a regra que ela inventou.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db:migrar rodando, CI verde, e ao menos um commit de cada integrante.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as três atividades, na ordem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5 histórias de usuário do caso e avaliá-las por INVEST, marcando a letra que falha e a ação corretiva de cada uma.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uma história "gigante" e quebrá-la em 3 menores pelo método hambúrguer, cada uma demonstrável sozinha.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histórias com IA e corrigir pelo menos 3, registrando o que mudou, por quê, e qual regra ela inventou.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três, entregues ao final do encontro · valem 0,25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colaboradora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gerar histórias candidatas e sugerir fatiamentos. A escolha da história zero, a fronteira da fatia e o julgamento INVEST são de vocês — e vão para ## Uso de 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você reconhece, em cinco segundos, que uma história é tarefa, gigante, sem valor ou horizontal?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2026-08-13T19:42:41Z</dcterms:created>
  <dcterms:modified xsi:type="dcterms:W3CDTF">2026-08-13T19:42:41Z</dcterms:modified>
</cp:coreProperties>
</file>