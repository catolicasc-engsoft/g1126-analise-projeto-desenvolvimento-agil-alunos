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Aula 03 — Requisitos e histórias de usuário. ~70 min de exposição; o restante é produção em sala.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Retomar rápido. Se ninguém lembrar, é sinal de que a evidência da aula anterior foi fraca.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o estado real do produto. Se algum grupo está travado, aparece aqui.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Toda aula produz uma evidência. Dizer qual é, antes de começar.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Não-funcional volta forte na Unidade 2, quando afetar as decisões de projeto.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Não-funcional volta forte na Unidade 2, quando afetar as decisões de projeto.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Cobrar o "para" em todas as histórias que eles escreverem.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Cobrar o "para" em todas as histórias que eles escreverem.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Exercício rápido: pegar uma história gigante da turma e quebrar em três.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Exercício rápido: pegar uma história gigante da turma e quebrar em três.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grupo sai daqui com a sua história zero escolhida. É o que vai rodar na aula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grupo sai daqui com a sua história zero escolhida. É o que vai rodar na aula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Circular entre os grupos. Questionar decisões e introduzir restrições novas.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três atividades são complementares: a 1 produz, a 2 transforma, a 3 usa e critica IA. Correção binária: entregou as três no prazo e no formato, pontuou.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for colaboradora: exigir o registro do que a IA gerou e do que eles mudaram.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Reservar 1 min ao final. Nunca entregar resumo pronto — a consulta é evidência de aprendizagem.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5F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03</a:t>
            </a:r>
            <a:endParaRPr lang="en-US" sz="1700" dirty="0"/>
          </a:p>
        </p:txBody>
      </p:sp>
      <p:sp>
        <p:nvSpPr>
          <p:cNvPr id="3" name="Text 1"/>
          <p:cNvSpPr/>
          <p:nvPr/>
        </p:nvSpPr>
        <p:spPr>
          <a:xfrm>
            <a:off x="731520" y="182880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Requisitos e histórias de usuário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33832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1 — Análise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Nível de IA: IA como colaboradora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onde viemos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1325880"/>
            <a:ext cx="8229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Mapeamos stakeholders e objetivos de impacto.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Explicitamos regras de negócio que estavam implícitas.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Nomeamos ao menos um conflito de prioridade.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Retomada · 5 min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 estamos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produto vivo, hoje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229600" cy="1737360"/>
          </a:xfrm>
          <a:prstGeom prst="roundRect">
            <a:avLst>
              <a:gd name="adj" fmla="val 7368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81328"/>
            <a:ext cx="7589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Sabemos para quem construímos e o que importa.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repositório roda, mas as regras de negócio são stubs.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Hoje escolhemos qual fatia vai executar primeiro.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produto vivo · 3 min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 da aula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645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Transformar necessidades em requisitos e histórias que cabem numa iteração — e escolher a fatia que atravessa o sistema.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2697480"/>
            <a:ext cx="8229600" cy="868680"/>
          </a:xfrm>
          <a:prstGeom prst="roundRect">
            <a:avLst>
              <a:gd name="adj" fmla="val 12632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69748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que sai desta aula: </a:t>
            </a:r>
            <a:pPr indent="0" marL="0">
              <a:buNone/>
            </a:pPr>
            <a:r>
              <a:rPr lang="en-US" sz="14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histórias de usuário avaliadas por INVEST + a história zero escolhida.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· 2 min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Funcional e não-funcional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 é o que o sistema faz. Não-funcional é como ele precisa se comportar — e é o que costuma derrubar arquiteturas.</a:t>
            </a:r>
            <a:endParaRPr lang="en-US" sz="1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86000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017520"/>
                <a:gridCol w="301752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Prato Cheio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Como verificar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Funcional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ONG aceita uma doação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doação sai da lista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Não-funcional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Funcionar no celular com conexão instável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Abre e responde em rede lenta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Não-funcional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Rastreabilidade do alimento doado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Todo registro tem tipo, qtd. e validade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Prato Cheio — e o contraponto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Bem escrito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5836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Diz o comportamento esperado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verificável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 um número ou uma condição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70916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BF1E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1032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 escrito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1032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"Ser rápido"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"Ser seguro"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"Ser fácil de usar"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+ contraponto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Anatomia de uma história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&lt;alguém&gt; quero &lt;algo&gt; para &lt;obter um resultado&gt;. O "para" é a parte que ninguém escreve — e é a única que justifica construir.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286000"/>
            <a:ext cx="8229600" cy="1243584"/>
          </a:xfrm>
          <a:prstGeom prst="roundRect">
            <a:avLst>
              <a:gd name="adj" fmla="val 7353"/>
            </a:avLst>
          </a:prstGeom>
          <a:solidFill>
            <a:srgbClr val="F4F4F2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2414016"/>
            <a:ext cx="786384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Como  doador de um restaurante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quero publicar uma doação com validade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  que uma ONG a recolha antes de estragar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Prato Cheio — e o contraponto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uma história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5836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 um usuário real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 valor sozinha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Cabe numa iteração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70916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BF1E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1032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é história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1032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"Criar a tabela de doações" (é tarefa)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"Fazer o módulo de gestão" (é épico)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o "para": ninguém sabe por que existe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+ contraponto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INVEST: o que faz uma história boa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Independente, Negociável, Valiosa, Estimável, Pequena, Testável. Falhar um critério não invalida — indica onde vai doer.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286000"/>
            <a:ext cx="1249680" cy="640080"/>
          </a:xfrm>
          <a:prstGeom prst="roundRect">
            <a:avLst>
              <a:gd name="adj" fmla="val 17143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286000"/>
            <a:ext cx="124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853184" y="2286000"/>
            <a:ext cx="1249680" cy="640080"/>
          </a:xfrm>
          <a:prstGeom prst="roundRect">
            <a:avLst>
              <a:gd name="adj" fmla="val 17143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853184" y="2286000"/>
            <a:ext cx="124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Negociável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49168" y="2286000"/>
            <a:ext cx="1249680" cy="640080"/>
          </a:xfrm>
          <a:prstGeom prst="roundRect">
            <a:avLst>
              <a:gd name="adj" fmla="val 17143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49168" y="2286000"/>
            <a:ext cx="124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Valiosa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645152" y="2286000"/>
            <a:ext cx="1249680" cy="640080"/>
          </a:xfrm>
          <a:prstGeom prst="roundRect">
            <a:avLst>
              <a:gd name="adj" fmla="val 17143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45152" y="2286000"/>
            <a:ext cx="124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Estimável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041136" y="2286000"/>
            <a:ext cx="1249680" cy="640080"/>
          </a:xfrm>
          <a:prstGeom prst="roundRect">
            <a:avLst>
              <a:gd name="adj" fmla="val 17143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041136" y="2286000"/>
            <a:ext cx="124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Pequena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437120" y="2286000"/>
            <a:ext cx="1249680" cy="640080"/>
          </a:xfrm>
          <a:prstGeom prst="roundRect">
            <a:avLst>
              <a:gd name="adj" fmla="val 17143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37120" y="2286000"/>
            <a:ext cx="124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Testável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Prato Cheio — e o contraponto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usar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5836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 cada história pelos 6 critérios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Marque qual falha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Quebre a que falhar em "Pequena"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70916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BF1E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1032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Sintomas de história grande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1032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Precisa de mais de uma iteração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Ninguém consegue estimar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 "e" no meio do título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+ contraponto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Fatia vertical: a história zero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fatia vertical atravessa todas as camadas com o mínimo de cada uma. É pequena na largura e completa na profundidade.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286000"/>
            <a:ext cx="1714500" cy="713232"/>
          </a:xfrm>
          <a:prstGeom prst="roundRect">
            <a:avLst>
              <a:gd name="adj" fmla="val 15385"/>
            </a:avLst>
          </a:prstGeom>
          <a:solidFill>
            <a:srgbClr val="F1F5EF"/>
          </a:solidFill>
          <a:ln w="19050">
            <a:solidFill>
              <a:srgbClr val="2C5F2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286000"/>
            <a:ext cx="17145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Publicar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226564" y="2478024"/>
            <a:ext cx="347472" cy="329184"/>
          </a:xfrm>
          <a:prstGeom prst="chevron">
            <a:avLst/>
          </a:prstGeom>
          <a:solidFill>
            <a:srgbClr val="97BC62"/>
          </a:solidFill>
          <a:ln/>
        </p:spPr>
      </p:sp>
      <p:sp>
        <p:nvSpPr>
          <p:cNvPr id="9" name="Shape 7"/>
          <p:cNvSpPr/>
          <p:nvPr/>
        </p:nvSpPr>
        <p:spPr>
          <a:xfrm>
            <a:off x="2628900" y="2286000"/>
            <a:ext cx="1714500" cy="713232"/>
          </a:xfrm>
          <a:prstGeom prst="roundRect">
            <a:avLst>
              <a:gd name="adj" fmla="val 15385"/>
            </a:avLst>
          </a:prstGeom>
          <a:solidFill>
            <a:srgbClr val="F1F5EF"/>
          </a:solidFill>
          <a:ln w="19050">
            <a:solidFill>
              <a:srgbClr val="2C5F2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628900" y="2286000"/>
            <a:ext cx="17145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Listar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398264" y="2478024"/>
            <a:ext cx="347472" cy="329184"/>
          </a:xfrm>
          <a:prstGeom prst="chevron">
            <a:avLst/>
          </a:prstGeom>
          <a:solidFill>
            <a:srgbClr val="97BC62"/>
          </a:solidFill>
          <a:ln/>
        </p:spPr>
      </p:sp>
      <p:sp>
        <p:nvSpPr>
          <p:cNvPr id="12" name="Shape 10"/>
          <p:cNvSpPr/>
          <p:nvPr/>
        </p:nvSpPr>
        <p:spPr>
          <a:xfrm>
            <a:off x="4800600" y="2286000"/>
            <a:ext cx="1714500" cy="713232"/>
          </a:xfrm>
          <a:prstGeom prst="roundRect">
            <a:avLst>
              <a:gd name="adj" fmla="val 15385"/>
            </a:avLst>
          </a:prstGeom>
          <a:solidFill>
            <a:srgbClr val="F1F5EF"/>
          </a:solidFill>
          <a:ln w="19050">
            <a:solidFill>
              <a:srgbClr val="2C5F2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00600" y="2286000"/>
            <a:ext cx="17145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Aceitar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569964" y="2478024"/>
            <a:ext cx="347472" cy="329184"/>
          </a:xfrm>
          <a:prstGeom prst="chevron">
            <a:avLst/>
          </a:prstGeom>
          <a:solidFill>
            <a:srgbClr val="97BC62"/>
          </a:solidFill>
          <a:ln/>
        </p:spPr>
      </p:sp>
      <p:sp>
        <p:nvSpPr>
          <p:cNvPr id="15" name="Shape 13"/>
          <p:cNvSpPr/>
          <p:nvPr/>
        </p:nvSpPr>
        <p:spPr>
          <a:xfrm>
            <a:off x="6972300" y="2286000"/>
            <a:ext cx="1714500" cy="713232"/>
          </a:xfrm>
          <a:prstGeom prst="roundRect">
            <a:avLst>
              <a:gd name="adj" fmla="val 15385"/>
            </a:avLst>
          </a:prstGeom>
          <a:solidFill>
            <a:srgbClr val="97BC62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972300" y="2286000"/>
            <a:ext cx="17145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3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 da lista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Prato Cheio — e o contraponto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 fatia (a nossa)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5836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Doador publica uma doação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 vê as disponíveis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 aceita e ela sai da lista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70916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BF1E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1032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Fatia horizontal (armadilha)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1032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"Primeiro fazemos todo o banco"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"Depois toda a API"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 tela fica para o final"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Nada executa até o fim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+ contraponto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Produção contínua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todos os grupos evoluem no produto hoje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98448"/>
            <a:ext cx="8229600" cy="2377440"/>
          </a:xfrm>
          <a:prstGeom prst="roundRect">
            <a:avLst>
              <a:gd name="adj" fmla="val 538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81328"/>
            <a:ext cx="75895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Escrever as histórias de usuário do caso no docs/analise.md.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Avaliar cada história por INVEST e marcar o que falha.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Escolher a história zero — a fatia que vai executar na próxima aula.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Rodar npm run db:migrar: o banco da Unidade 1 é SQLite, embutido no Node.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usar IA, registrar o que ela gerou e o que vocês mudaram.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Produção · o produto vivo avança em toda aula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Trabalho em sala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grupo (3 a 5 pessoas) — as três atividades, na ordem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98448"/>
            <a:ext cx="822960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159105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1591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34440" y="1298448"/>
            <a:ext cx="7223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Escrever 5 histórias de usuário do caso e avaliá-las por INVEST, marcando qual critério cada uma falha.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57200" y="2404872"/>
            <a:ext cx="822960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2697480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2697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34440" y="2404872"/>
            <a:ext cx="7223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Pegar uma história "gigante" e quebrá-la em 3 menores, cada uma com valor independente.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3511296"/>
            <a:ext cx="822960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3803904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4" name="Text 12"/>
          <p:cNvSpPr/>
          <p:nvPr/>
        </p:nvSpPr>
        <p:spPr>
          <a:xfrm>
            <a:off x="658368" y="38039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34440" y="3511296"/>
            <a:ext cx="7223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Gerar histórias com IA e corrigir/melhorar pelo menos 3, registrando o que mudou e por quê.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três, entregues ao final do encontro · valem 0,25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Nível de IA nesta aula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8229600" cy="1051560"/>
          </a:xfrm>
          <a:prstGeom prst="roundRect">
            <a:avLst>
              <a:gd name="adj" fmla="val 12174"/>
            </a:avLst>
          </a:prstGeom>
          <a:solidFill>
            <a:srgbClr val="2C5F2D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4300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IA como colaboradora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2377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Pode gerar rascunhos de histórias. Você verifica, corrige e registra o que mudou — e por quê.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31089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qualquer nível, você continua responsável por verificar, testar, corrigir e defender o resultado.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Premissa 3 · o nível é declarado em toda atividade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1F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515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Sua consulta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457200" y="160020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você reconhece, na prática, que uma história está grande demais?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Manuscrita, de próprio punho, extensão a seu critério. É a única consulta permitida na prova.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2026-07-27T17:01:18Z</dcterms:created>
  <dcterms:modified xsi:type="dcterms:W3CDTF">2026-07-27T17:01:18Z</dcterms:modified>
</cp:coreProperties>
</file>